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Lato"/>
      <p:regular r:id="rId17"/>
      <p:bold r:id="rId18"/>
      <p:italic r:id="rId19"/>
      <p:boldItalic r:id="rId20"/>
    </p:embeddedFont>
    <p:embeddedFont>
      <p:font typeface="Exo 2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B248D4-7ED9-4225-92AB-063ADFE139E2}">
  <a:tblStyle styleId="{4AB248D4-7ED9-4225-92AB-063ADFE139E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5.xml"/><Relationship Id="rId22" Type="http://schemas.openxmlformats.org/officeDocument/2006/relationships/font" Target="fonts/Exo2-bold.fntdata"/><Relationship Id="rId10" Type="http://schemas.openxmlformats.org/officeDocument/2006/relationships/slide" Target="slides/slide4.xml"/><Relationship Id="rId21" Type="http://schemas.openxmlformats.org/officeDocument/2006/relationships/font" Target="fonts/Exo2-regular.fntdata"/><Relationship Id="rId13" Type="http://schemas.openxmlformats.org/officeDocument/2006/relationships/slide" Target="slides/slide7.xml"/><Relationship Id="rId24" Type="http://schemas.openxmlformats.org/officeDocument/2006/relationships/font" Target="fonts/Exo2-boldItalic.fntdata"/><Relationship Id="rId12" Type="http://schemas.openxmlformats.org/officeDocument/2006/relationships/slide" Target="slides/slide6.xml"/><Relationship Id="rId23" Type="http://schemas.openxmlformats.org/officeDocument/2006/relationships/font" Target="fonts/Exo2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a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La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10" Type="http://schemas.openxmlformats.org/officeDocument/2006/relationships/image" Target="../media/image27.png"/><Relationship Id="rId9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26.png"/><Relationship Id="rId8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30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100512" y="2560290"/>
            <a:ext cx="419052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TradeFlow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519612" y="3703290"/>
            <a:ext cx="31527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Signal Validated. Action Verified.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30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6437"/>
            <a:ext cx="5286375" cy="38385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754659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00BFFF"/>
                </a:solidFill>
                <a:latin typeface="Exo 2"/>
                <a:ea typeface="Exo 2"/>
                <a:cs typeface="Exo 2"/>
                <a:sym typeface="Exo 2"/>
              </a:rPr>
              <a:t>90%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4183409"/>
            <a:ext cx="5286375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of retail trades are based on emotion, not data.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724650" y="2366962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The Signal vs. The Noise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24650" y="3024187"/>
            <a:ext cx="45053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Chatrooms and social media are filled with financial "signals"—but most are just noise. Distinguishing a genuine alpha signal from market manipulation or FOMO is impossible for the average user.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4624387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This leads to impulsive, high-risk decisions and significant capital loss.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The Problem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307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2600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5260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962025" y="2214562"/>
            <a:ext cx="473059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The Actor-Critic Model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62025" y="2871787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TradeFlow employs a dual-AI system. The "Actor" (LLM) scans all chat data to identify potential trade signals.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62025" y="4167173"/>
            <a:ext cx="4505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The "Critic" (ML Model) then </a:t>
            </a:r>
            <a:r>
              <a:rPr lang="en-US" sz="1500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monitors our Actor agent and raises a flag in the chat room if </a:t>
            </a:r>
            <a:r>
              <a:rPr lang="en-US" sz="1500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anomaly</a:t>
            </a:r>
            <a:r>
              <a:rPr lang="en-US" sz="1500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 is found.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762125"/>
            <a:ext cx="526732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Our Solution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307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5987"/>
            <a:ext cx="3429000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85987"/>
            <a:ext cx="3429000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185987"/>
            <a:ext cx="3429000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66775" y="4814887"/>
            <a:ext cx="2838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1. Signal Identified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676775" y="4814887"/>
            <a:ext cx="2838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2. Critic Validating...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486775" y="4814887"/>
            <a:ext cx="2838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3. Action Verified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Live Demo</a:t>
            </a:r>
            <a:endParaRPr/>
          </a:p>
        </p:txBody>
      </p:sp>
      <p:pic>
        <p:nvPicPr>
          <p:cNvPr id="124" name="Google Shape;12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8687" y="2644550"/>
            <a:ext cx="2294626" cy="181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6775" y="2609950"/>
            <a:ext cx="2801063" cy="188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86775" y="2532425"/>
            <a:ext cx="2801077" cy="204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307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9800"/>
            <a:ext cx="342900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209800"/>
            <a:ext cx="342900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2209800"/>
            <a:ext cx="3429000" cy="3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1480899" y="3219450"/>
            <a:ext cx="161020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Actor: LLM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66775" y="3876675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A fine-tuned Large Language Model (Mistral-7B) to understand context, slang, and sentiment in chat data.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970859" y="3219450"/>
            <a:ext cx="22502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Critic: XGBoost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676775" y="3876675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A gradient-boosted decision tree model trained on historical market data to verify the signal's probability of success.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440816" y="3219450"/>
            <a:ext cx="293036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Platform: Streamlit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486775" y="3876675"/>
            <a:ext cx="28384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A blazingly fast, Python-native framework for rapid UI development and data app deployment.</a:t>
            </a:r>
            <a:endParaRPr/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7400" y="25241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67400" y="25241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05975" y="252412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Technology Stack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307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57400"/>
            <a:ext cx="11049000" cy="3676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" name="Google Shape;151;p18"/>
          <p:cNvGraphicFramePr/>
          <p:nvPr/>
        </p:nvGraphicFramePr>
        <p:xfrm>
          <a:off x="962025" y="22574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{4AB248D4-7ED9-4225-92AB-063ADFE139E2}</a:tableStyleId>
              </a:tblPr>
              <a:tblGrid>
                <a:gridCol w="2411750"/>
                <a:gridCol w="2495250"/>
                <a:gridCol w="2865375"/>
                <a:gridCol w="2495550"/>
              </a:tblGrid>
              <a:tr h="65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BF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BF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TradeFlow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BF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Social Scanners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BFFF"/>
                          </a:solidFill>
                          <a:latin typeface="Exo 2"/>
                          <a:ea typeface="Exo 2"/>
                          <a:cs typeface="Exo 2"/>
                          <a:sym typeface="Exo 2"/>
                        </a:rPr>
                        <a:t>Manual Trading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DBDB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Signal Source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DBDB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Real-time Chat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E9E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Public Posts (Delayed)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E9E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Manual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DBDB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DBDB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Automated (Critic)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E9E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E9E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Emotional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DBDB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DBDB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Validated Only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E9E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Alerts Only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E9E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Impulsive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5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DBDB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Risk Management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BDBDB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Built-in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E9E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E9E9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Guesswork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" name="Google Shape;152;p18"/>
          <p:cNvSpPr/>
          <p:nvPr/>
        </p:nvSpPr>
        <p:spPr>
          <a:xfrm>
            <a:off x="962025" y="2900362"/>
            <a:ext cx="2411759" cy="95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3373784" y="2900362"/>
            <a:ext cx="2495252" cy="95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869037" y="2900362"/>
            <a:ext cx="2865387" cy="95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8734425" y="2900362"/>
            <a:ext cx="2495550" cy="95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962025" y="3557587"/>
            <a:ext cx="2411759" cy="95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3373784" y="3557587"/>
            <a:ext cx="2495252" cy="95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869037" y="3557587"/>
            <a:ext cx="2865387" cy="95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8734425" y="3557587"/>
            <a:ext cx="2495550" cy="95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962025" y="4214812"/>
            <a:ext cx="2411759" cy="95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3373784" y="4214812"/>
            <a:ext cx="2495252" cy="95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5869037" y="4214812"/>
            <a:ext cx="2865387" cy="95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8734425" y="4214812"/>
            <a:ext cx="2495550" cy="95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962025" y="4872037"/>
            <a:ext cx="2411759" cy="95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3373784" y="4872037"/>
            <a:ext cx="2495252" cy="95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869037" y="4872037"/>
            <a:ext cx="2865387" cy="95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8734425" y="4872037"/>
            <a:ext cx="2495550" cy="9525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Competitive Advantage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307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571500" y="3876675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00B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507968" y="413385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BFFF"/>
                </a:solidFill>
                <a:latin typeface="Exo 2"/>
                <a:ea typeface="Exo 2"/>
                <a:cs typeface="Exo 2"/>
                <a:sym typeface="Exo 2"/>
              </a:rPr>
              <a:t>Day 1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4600575"/>
            <a:ext cx="2541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Core Actor-Critic Model &amp; Streamlit UI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3343888" y="2390775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BFFF"/>
                </a:solidFill>
                <a:latin typeface="Exo 2"/>
                <a:ea typeface="Exo 2"/>
                <a:cs typeface="Exo 2"/>
                <a:sym typeface="Exo 2"/>
              </a:rPr>
              <a:t>Q1 2025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3407419" y="2857500"/>
            <a:ext cx="2541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Integration with Live Brokerage APIs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179808" y="4133850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BFFF"/>
                </a:solidFill>
                <a:latin typeface="Exo 2"/>
                <a:ea typeface="Exo 2"/>
                <a:cs typeface="Exo 2"/>
                <a:sym typeface="Exo 2"/>
              </a:rPr>
              <a:t>Q2 2025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243339" y="4600575"/>
            <a:ext cx="2541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Multi-Source Analysis (Discord, X, Reddit)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015728" y="2390775"/>
            <a:ext cx="26683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BFFF"/>
                </a:solidFill>
                <a:latin typeface="Exo 2"/>
                <a:ea typeface="Exo 2"/>
                <a:cs typeface="Exo 2"/>
                <a:sym typeface="Exo 2"/>
              </a:rPr>
              <a:t>Q4 2025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079259" y="2857500"/>
            <a:ext cx="2541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Fully Autonomous Agent Deployment</a:t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1746870" y="38004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30307"/>
          </a:solidFill>
          <a:ln cap="flat" cmpd="sng" w="38100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4582790" y="38004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30307"/>
          </a:solidFill>
          <a:ln cap="flat" cmpd="sng" w="38100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7418709" y="38004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30307"/>
          </a:solidFill>
          <a:ln cap="flat" cmpd="sng" w="38100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10254629" y="38004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30307"/>
          </a:solidFill>
          <a:ln cap="flat" cmpd="sng" w="38100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Roadmap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307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2428875" y="4967287"/>
            <a:ext cx="7334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Projected 6-month portfolio performance vs. alternative strategies (based on backtesting).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Projected Impact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307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295275" y="2360265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Questions?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35032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Signal Validated. Action Verified.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4249935"/>
            <a:ext cx="1104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B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demo@tradeflow.dev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307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89968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73709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5848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4237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4252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571500" y="261476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71500" y="33995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571500" y="41843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571500" y="516716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8" name="Google Shape;21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88996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1666875" y="178430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https://static.vecteezy.com/system/resources/previews/069/165/013/non_2x/futuristic-tech-grid-with-neon-circuits-dark-background-with-glowing-blue-and-red-dotted-lines-for-cyber-systems-hacking-or-ai-concepts-encoding-encryption-process-bg-illustration-vector.jpg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1666875" y="222810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221" name="Google Shape;22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7737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1666875" y="276716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https://cdn.dribbble.com/userupload/42743058/file/original-52bdce8de1644ad423d2ed677d08b86a.png?format=webp&amp;resize=400x300&amp;vertical=center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1666875" y="30128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dribbble.com</a:t>
            </a:r>
            <a:endParaRPr/>
          </a:p>
        </p:txBody>
      </p:sp>
      <p:pic>
        <p:nvPicPr>
          <p:cNvPr descr="image.png" id="224" name="Google Shape;22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5584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1666875" y="355193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https://i.sstatic.net/DSfuw.png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1666875" y="379764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stackoverflow.com</a:t>
            </a:r>
            <a:endParaRPr/>
          </a:p>
        </p:txBody>
      </p:sp>
      <p:pic>
        <p:nvPicPr>
          <p:cNvPr descr="image.png" id="227" name="Google Shape;227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44237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1666875" y="433670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https://static.vecteezy.com/system/resources/previews/020/747/304/non_2x/mobile-banking-app-ui-kit-with-multiple-screens-as-login-verification-ride-history-payment-setting-and-invite-friends-vector.jpg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1666875" y="478050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230" name="Google Shape;230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54252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1666875" y="531956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https://png.pngtree.com/thumb_back/fh260/background/20250728/pngtree-colorful-abstract-waves-with-glowing-particles-flowing-against-a-dark-background-image_17666123.webp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1666875" y="576336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DBDBD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Exo 2"/>
                <a:ea typeface="Exo 2"/>
                <a:cs typeface="Exo 2"/>
                <a:sym typeface="Exo 2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